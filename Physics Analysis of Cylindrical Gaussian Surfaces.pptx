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ayfair Display" panose="00000500000000000000" pitchFamily="2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9" d="100"/>
          <a:sy n="109" d="100"/>
        </p:scale>
        <p:origin x="72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75585" y="1770757"/>
            <a:ext cx="664083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Analysis of Cylindrical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Gaussian Surfaces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667125" y="3397448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70809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Industrial Applications &amp; Theoretical Framework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381624" y="3863629"/>
            <a:ext cx="1428750" cy="47625"/>
          </a:xfrm>
          <a:prstGeom prst="rect">
            <a:avLst/>
          </a:prstGeom>
          <a:solidFill>
            <a:srgbClr val="002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676258" y="4336102"/>
            <a:ext cx="28394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Engineering Elite Team (EET)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605716" y="4800183"/>
            <a:ext cx="29805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Supervised By: Dr. Ashraf El-Morsy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Engineering Elite Team (EET)</a:t>
            </a:r>
            <a:endParaRPr dirty="0"/>
          </a:p>
        </p:txBody>
      </p:sp>
      <p:sp>
        <p:nvSpPr>
          <p:cNvPr id="96" name="Google Shape;96;p14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261461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Mohamed Haitham Mohamed Taher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Team Lead &amp; Research Specialist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157537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Abdelrahman Helmy Ali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Mathematical Analysis Expert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370046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Abdelrahman Walid Al-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Shuwayhi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Industrial Application Analyst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4243387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Ali Mohamed Abu Salem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Simulation &amp; Software Developer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78631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Ahmed Hany Hamdy Abu Tayel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Documentation &amp; Technical Review</a:t>
            </a:r>
            <a:endParaRPr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27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56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385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814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244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27425" y="2464650"/>
            <a:ext cx="4435550" cy="27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567184" y="2868980"/>
            <a:ext cx="4153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Team Vision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7567184" y="3569819"/>
            <a:ext cx="3956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bridge the gap between theoretical physics and modern industrial engineering through computational simulation and rigorous mathematical modeling.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7" grpId="0"/>
      <p:bldP spid="98" grpId="0"/>
      <p:bldP spid="99" grpId="0"/>
      <p:bldP spid="100" grpId="0"/>
      <p:bldP spid="101" grpId="0"/>
      <p:bldP spid="108" grpId="0"/>
      <p:bldP spid="10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06279"/>
            <a:ext cx="11049000" cy="12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20192"/>
            <a:ext cx="5381625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20192"/>
            <a:ext cx="5381625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6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Theoretical Foundation: Gauss's Law</a:t>
            </a:r>
            <a:endParaRPr dirty="0"/>
          </a:p>
        </p:txBody>
      </p:sp>
      <p:sp>
        <p:nvSpPr>
          <p:cNvPr id="119" name="Google Shape;119;p15"/>
          <p:cNvSpPr/>
          <p:nvPr/>
        </p:nvSpPr>
        <p:spPr>
          <a:xfrm>
            <a:off x="571500" y="11343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 l="35560" r="39682"/>
          <a:stretch/>
        </p:blipFill>
        <p:spPr>
          <a:xfrm>
            <a:off x="3838250" y="5079563"/>
            <a:ext cx="417255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62025" y="3001267"/>
            <a:ext cx="489061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Electric Flux Concept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962025" y="3467992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Electric flux measures the total electric field passing through a given surface. For a closed surface, it is proportional to the enclosed net charge.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29400" y="3001267"/>
            <a:ext cx="489061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Gaussian Surfaces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6629400" y="3467992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Choosing a surface with cylindrical symmetry allows for the simplification of the flux integral, making electric field calculations highly efficient.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38214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38214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21" grpId="0"/>
      <p:bldP spid="122" grpId="0"/>
      <p:bldP spid="123" grpId="0"/>
      <p:bldP spid="1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Mathematical Derivation: Line Charge</a:t>
            </a:r>
            <a:endParaRPr dirty="0"/>
          </a:p>
        </p:txBody>
      </p:sp>
      <p:sp>
        <p:nvSpPr>
          <p:cNvPr id="134" name="Google Shape;134;p16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215025"/>
            <a:ext cx="5412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Consider an infinite line of charge with linear density . We enclose it in a cylindrical Gaussian surface of radius and length .</a:t>
            </a:r>
            <a:endParaRPr sz="2000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488" y="4987598"/>
            <a:ext cx="5238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electric field is radial and depends inversely on the distance from the axis.</a:t>
            </a:r>
            <a:endParaRPr sz="200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76450"/>
            <a:ext cx="52197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10150" y="2790080"/>
            <a:ext cx="92422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4425" y="3142505"/>
            <a:ext cx="6354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409205"/>
            <a:ext cx="116383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9">
            <a:alphaModFix/>
          </a:blip>
          <a:srcRect l="26657" r="28107"/>
          <a:stretch>
            <a:fillRect/>
          </a:stretch>
        </p:blipFill>
        <p:spPr>
          <a:xfrm>
            <a:off x="1055803" y="3812949"/>
            <a:ext cx="3582186" cy="704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Analysis of Coaxial Cylinders</a:t>
            </a:r>
            <a:endParaRPr dirty="0"/>
          </a:p>
        </p:txBody>
      </p:sp>
      <p:sp>
        <p:nvSpPr>
          <p:cNvPr id="148" name="Google Shape;148;p17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4362301"/>
            <a:ext cx="2489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060650" y="4362301"/>
            <a:ext cx="327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336506" y="4362301"/>
            <a:ext cx="52839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5049589"/>
            <a:ext cx="2489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3060650" y="5049589"/>
            <a:ext cx="327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336506" y="5049589"/>
            <a:ext cx="52839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7" title="2026-05-02 00.34.37 gemini.google.com aae1a152077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125" y="3429000"/>
            <a:ext cx="11461750" cy="25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Capacitive Liquid Level Sensors</a:t>
            </a:r>
            <a:endParaRPr dirty="0"/>
          </a:p>
        </p:txBody>
      </p:sp>
      <p:sp>
        <p:nvSpPr>
          <p:cNvPr id="163" name="Google Shape;163;p18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440475" y="1925850"/>
            <a:ext cx="550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How It Works</a:t>
            </a:r>
            <a:endParaRPr sz="2700"/>
          </a:p>
        </p:txBody>
      </p:sp>
      <p:sp>
        <p:nvSpPr>
          <p:cNvPr id="165" name="Google Shape;165;p18"/>
          <p:cNvSpPr txBox="1"/>
          <p:nvPr/>
        </p:nvSpPr>
        <p:spPr>
          <a:xfrm>
            <a:off x="571425" y="2663888"/>
            <a:ext cx="52389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Industrial sensors use the coaxial geometry to measure liquid levels. As the liquid rises between the cylindrical electrodes, it changes the dielectric constant ( ).</a:t>
            </a:r>
            <a:endParaRPr sz="2000"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76450"/>
            <a:ext cx="52197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71850" y="3867150"/>
            <a:ext cx="95994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000163" y="4591700"/>
            <a:ext cx="481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High precision in harsh environments</a:t>
            </a:r>
            <a:endParaRPr sz="2000"/>
          </a:p>
        </p:txBody>
      </p:sp>
      <p:sp>
        <p:nvSpPr>
          <p:cNvPr id="169" name="Google Shape;169;p18"/>
          <p:cNvSpPr txBox="1"/>
          <p:nvPr/>
        </p:nvSpPr>
        <p:spPr>
          <a:xfrm>
            <a:off x="1000175" y="5174475"/>
            <a:ext cx="481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Non-contact sensing options</a:t>
            </a:r>
            <a:endParaRPr sz="2000"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217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20455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Electrostatic Precipitators (ESP)</a:t>
            </a:r>
            <a:endParaRPr dirty="0"/>
          </a:p>
        </p:txBody>
      </p:sp>
      <p:sp>
        <p:nvSpPr>
          <p:cNvPr id="179" name="Google Shape;179;p19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411207" y="1925850"/>
            <a:ext cx="550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Environmental Protection</a:t>
            </a:r>
            <a:endParaRPr sz="2700"/>
          </a:p>
        </p:txBody>
      </p:sp>
      <p:sp>
        <p:nvSpPr>
          <p:cNvPr id="181" name="Google Shape;181;p19"/>
          <p:cNvSpPr txBox="1"/>
          <p:nvPr/>
        </p:nvSpPr>
        <p:spPr>
          <a:xfrm>
            <a:off x="542225" y="2514600"/>
            <a:ext cx="52389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ESPs use cylindrical shells to capture ash and dust from industrial exhaust gases. A high-voltage wire at the center creates a field that ionizes particles.</a:t>
            </a:r>
            <a:endParaRPr sz="2000"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12000" y="1728363"/>
            <a:ext cx="5698975" cy="4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70850" y="4460875"/>
            <a:ext cx="481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Removes up to 99% of particulate matter</a:t>
            </a:r>
            <a:endParaRPr sz="2000"/>
          </a:p>
        </p:txBody>
      </p:sp>
      <p:sp>
        <p:nvSpPr>
          <p:cNvPr id="184" name="Google Shape;184;p19"/>
          <p:cNvSpPr txBox="1"/>
          <p:nvPr/>
        </p:nvSpPr>
        <p:spPr>
          <a:xfrm>
            <a:off x="970850" y="5107809"/>
            <a:ext cx="481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Critical for eco-friendly manufacturing</a:t>
            </a:r>
            <a:endParaRPr sz="2000"/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225" y="4506274"/>
            <a:ext cx="285750" cy="29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2225" y="5153207"/>
            <a:ext cx="257175" cy="295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Faraday Shields in Coaxial Cables</a:t>
            </a:r>
            <a:endParaRPr dirty="0"/>
          </a:p>
        </p:txBody>
      </p:sp>
      <p:sp>
        <p:nvSpPr>
          <p:cNvPr id="194" name="Google Shape;194;p20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9051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EMI Protection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33718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Coaxial cables utilize an outer conducting layer as a Faraday shield. This cylindrical surface ensures the interior signal is protected from external electromagnetic interference (EMI).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44291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According to Gauss's Law, the net electric field inside a grounded conductor is zero, preserving signal integrity.</a:t>
            </a:r>
            <a:endParaRPr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 l="28054" r="18098" b="47040"/>
          <a:stretch/>
        </p:blipFill>
        <p:spPr>
          <a:xfrm>
            <a:off x="6653075" y="2268100"/>
            <a:ext cx="4488300" cy="340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71500" y="571500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EET Mobile Application</a:t>
            </a:r>
            <a:endParaRPr dirty="0"/>
          </a:p>
        </p:txBody>
      </p:sp>
      <p:sp>
        <p:nvSpPr>
          <p:cNvPr id="205" name="Google Shape;205;p21"/>
          <p:cNvSpPr/>
          <p:nvPr/>
        </p:nvSpPr>
        <p:spPr>
          <a:xfrm>
            <a:off x="571500" y="113822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2538412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Field Analysis On-the-Go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3005137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Our team developed a dedicated mobile application for real-time field simulations. It allows engineers to input radial dimensions and charge densities to instantly calculate field strengths.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556287"/>
            <a:ext cx="49530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Features: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Field distribution mapping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Capacitance solver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- Unit conversion utilities</a:t>
            </a:r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4">
            <a:alphaModFix/>
          </a:blip>
          <a:srcRect l="25331" r="21231" b="4244"/>
          <a:stretch>
            <a:fillRect/>
          </a:stretch>
        </p:blipFill>
        <p:spPr>
          <a:xfrm>
            <a:off x="5410985" y="70575"/>
            <a:ext cx="6781015" cy="67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1100" fill="hold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1100" fill="hold">
                                          <p:stCondLst>
                                            <p:cond delay="220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1100" fill="hold">
                                          <p:stCondLst>
                                            <p:cond delay="330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1100" fill="hold">
                                          <p:stCondLst>
                                            <p:cond delay="440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571500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EET Web Platform</a:t>
            </a:r>
            <a:endParaRPr dirty="0"/>
          </a:p>
        </p:txBody>
      </p:sp>
      <p:sp>
        <p:nvSpPr>
          <p:cNvPr id="216" name="Google Shape;216;p22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2843212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Online Research Repository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33099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EET website serves as a central hub for our research data, providing interactive graphs and a comprehensive database of industrial case studies.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42243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Users can access the source code for our Gauss's Law algorithms and collaborate on future theoretical developments.</a:t>
            </a:r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4">
            <a:alphaModFix/>
          </a:blip>
          <a:srcRect t="26321" b="12262"/>
          <a:stretch>
            <a:fillRect/>
          </a:stretch>
        </p:blipFill>
        <p:spPr>
          <a:xfrm>
            <a:off x="5031650" y="2390775"/>
            <a:ext cx="7160351" cy="446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6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32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320" fill="hold">
                                          <p:stCondLst>
                                            <p:cond delay="64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320" fill="hold">
                                          <p:stCondLst>
                                            <p:cond delay="96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320" fill="hold">
                                          <p:stCondLst>
                                            <p:cond delay="128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9337"/>
            <a:ext cx="34925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9337"/>
            <a:ext cx="34925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9337"/>
            <a:ext cx="3492549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 and Conclusions</a:t>
            </a:r>
            <a:endParaRPr dirty="0"/>
          </a:p>
        </p:txBody>
      </p:sp>
      <p:sp>
        <p:nvSpPr>
          <p:cNvPr id="230" name="Google Shape;230;p23"/>
          <p:cNvSpPr/>
          <p:nvPr/>
        </p:nvSpPr>
        <p:spPr>
          <a:xfrm>
            <a:off x="571500" y="1133475"/>
            <a:ext cx="762000" cy="3810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962025" y="3300412"/>
            <a:ext cx="29070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Theory &amp; Law</a:t>
            </a:r>
            <a:endParaRPr dirty="0"/>
          </a:p>
        </p:txBody>
      </p:sp>
      <p:sp>
        <p:nvSpPr>
          <p:cNvPr id="232" name="Google Shape;232;p23"/>
          <p:cNvSpPr txBox="1"/>
          <p:nvPr/>
        </p:nvSpPr>
        <p:spPr>
          <a:xfrm>
            <a:off x="962025" y="3767137"/>
            <a:ext cx="27686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Gauss's Law remains the most effective tool for analyzing symmetric systems, providing exact solutions for complex geometries.</a:t>
            </a:r>
            <a:endParaRPr dirty="0"/>
          </a:p>
        </p:txBody>
      </p:sp>
      <p:sp>
        <p:nvSpPr>
          <p:cNvPr id="233" name="Google Shape;233;p23"/>
          <p:cNvSpPr txBox="1"/>
          <p:nvPr/>
        </p:nvSpPr>
        <p:spPr>
          <a:xfrm>
            <a:off x="4740324" y="3300412"/>
            <a:ext cx="29070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Industrial Value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4740324" y="3767137"/>
            <a:ext cx="27686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From sensors to environmental filters, cylindrical analysis is foundational to modern industrial automation and safety.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518624" y="3300412"/>
            <a:ext cx="29070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Future Integration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8518624" y="3767137"/>
            <a:ext cx="27686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Digital tools (App/Web) bridge the gap between theoretical physics and practical engineering deployment.</a:t>
            </a:r>
            <a:endParaRPr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812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681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681287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  <p:bldP spid="231" grpId="0"/>
      <p:bldP spid="232" grpId="0"/>
      <p:bldP spid="233" grpId="0"/>
      <p:bldP spid="234" grpId="0"/>
      <p:bldP spid="235" grpId="0"/>
      <p:bldP spid="2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4135755" y="1850677"/>
            <a:ext cx="392049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2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 dirty="0"/>
          </a:p>
        </p:txBody>
      </p:sp>
      <p:sp>
        <p:nvSpPr>
          <p:cNvPr id="246" name="Google Shape;246;p24"/>
          <p:cNvSpPr txBox="1"/>
          <p:nvPr/>
        </p:nvSpPr>
        <p:spPr>
          <a:xfrm>
            <a:off x="3905250" y="306035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EET Team appreciates your time and attention.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3937350" y="3676075"/>
            <a:ext cx="4317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366"/>
                </a:solidFill>
                <a:latin typeface="Urbanist"/>
                <a:ea typeface="Urbanist"/>
                <a:cs typeface="Urbanist"/>
                <a:sym typeface="Urbanist"/>
              </a:rPr>
              <a:t>We are now open for any questions.</a:t>
            </a:r>
            <a:endParaRPr dirty="0"/>
          </a:p>
        </p:txBody>
      </p:sp>
      <p:sp>
        <p:nvSpPr>
          <p:cNvPr id="248" name="Google Shape;248;p24"/>
          <p:cNvSpPr txBox="1"/>
          <p:nvPr/>
        </p:nvSpPr>
        <p:spPr>
          <a:xfrm>
            <a:off x="4710112" y="4397573"/>
            <a:ext cx="2771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1251857@horus.edu.eg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4929174" y="4759525"/>
            <a:ext cx="277169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www.eet-physics-</a:t>
            </a:r>
            <a:r>
              <a:rPr lang="en-US" sz="1500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https://x-ironheart.github.io/Physics-at-the-heart-of-industry/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.com</a:t>
            </a:r>
            <a:endParaRPr dirty="0"/>
          </a:p>
        </p:txBody>
      </p:sp>
      <p:pic>
        <p:nvPicPr>
          <p:cNvPr id="250" name="Google Shape;2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8687" y="441782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8687" y="4759523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ver/>
      </p:transition>
    </mc:Choice>
    <mc:Fallback>
      <p:transition spd="slow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/>
      <p:bldP spid="2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Playfair Display</vt:lpstr>
      <vt:lpstr>Urbanist</vt:lpstr>
      <vt:lpstr>Calibri</vt:lpstr>
      <vt:lpstr>Urbanist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haytham</cp:lastModifiedBy>
  <cp:revision>1</cp:revision>
  <dcterms:modified xsi:type="dcterms:W3CDTF">2026-05-02T00:18:29Z</dcterms:modified>
</cp:coreProperties>
</file>